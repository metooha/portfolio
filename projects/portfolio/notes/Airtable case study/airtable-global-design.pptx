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pic>
        <p:nvPicPr>
          <p:cNvPr id="3" name="Image 1" descr="/home/claude/gd_template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4773168"/>
            <a:ext cx="1051560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0" y="48188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74904" y="301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Living Design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74904" y="13716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Source of Truth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374904" y="37673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Living Design · Walmart Commerce Platform · 2024–2025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74904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ROLE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74904" y="4389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Lead Designer, Living Design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300984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TIMELINE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300984" y="4389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Aug 2024 – Nov 2025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227064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SCOPE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227064" y="4389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17 themes · iOS · Android · Web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" y="301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 Source of Truth  |  Situation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486460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4904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No shared source of truth.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74904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2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Everyone was working alone.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74904" y="20116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DESIGN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Figma was restricted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57784" y="2980944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The core team locked down their files — no direct access, no token contributions, no syncing.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82696" y="20116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65576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65576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GitHub was fragmented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65576" y="2980944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iOS, Android, and Web each maintained their own token repos with no shared inheritance model.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0488" y="20116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COMMERCE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73368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Commerce needs were unmet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73368" y="2980944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Commerce teams needed branding tokens, extended components, and multi-org support the core didn't provide.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pic>
        <p:nvPicPr>
          <p:cNvPr id="3" name="Image 1" descr="/home/claude/gd_template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4773168"/>
            <a:ext cx="1051560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0" y="48188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74904" y="301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Living Design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74904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Human Cost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74904" y="98755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The cost wasn't just inefficiency.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It was eroded trust.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374904" y="2606040"/>
            <a:ext cx="45720" cy="214884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2697480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Teams were doing the same work twice — every team kept their own copy of the same tokens.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218688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3172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Designers and engineers couldn't trust they were looking at the same thing. Design decisions were constantly re-litigated during implementation.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39896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6384" y="36941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Commerce teams had no clear place to go for answers, so they built in isolation — more inconsistency, more overhead with every release.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261104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42153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Manual exports took 2–3 days per update with a ~15% error rate. Rollbacks were painful for everyone.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" y="301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 Source of Truth  |  The Decision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486460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4904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Airtable as Source of Truth.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74904" y="12984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2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Tool selection should follow team behavior — not the other way around.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74904" y="19202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E1CC"/>
          </a:solidFill>
          <a:ln w="12700">
            <a:solidFill>
              <a:srgbClr val="FFE1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44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✕  Figma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7784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Access restricted. No versioning. Can't support cross-team inheritance at scale.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72584" y="19202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E1CC"/>
          </a:solidFill>
          <a:ln w="12700">
            <a:solidFill>
              <a:srgbClr val="FFE1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55464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44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✕  GitHub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55464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Requires engineering skills to safely edit. Design ownership breaks down in JSON files.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74904" y="3035808"/>
            <a:ext cx="8394192" cy="1691640"/>
          </a:xfrm>
          <a:prstGeom prst="roundRect">
            <a:avLst>
              <a:gd name="adj" fmla="val 5405"/>
            </a:avLst>
          </a:prstGeom>
          <a:solidFill>
            <a:srgbClr val="A9DDF7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✓  Why Airtable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4360" y="3547872"/>
            <a:ext cx="91440" cy="91440"/>
          </a:xfrm>
          <a:prstGeom prst="ellipse">
            <a:avLst/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511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Designers will actually use it correctly at scale — relational tables, not JSON files in a repo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" y="3831336"/>
            <a:ext cx="91440" cy="91440"/>
          </a:xfrm>
          <a:prstGeom prst="ellipse">
            <a:avLst/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Engineers get a reliable API. One source, all three platform outputs. Column schema is a frozen contract.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4114800"/>
            <a:ext cx="91440" cy="91440"/>
          </a:xfrm>
          <a:prstGeom prst="ellipse">
            <a:avLst/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0782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Inheritance model enables 17-brand theming without duplication across 650+ tokens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" y="301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 Source of Truth  |  The 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486460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4904" y="6400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Airtable → Style Dictionary → GitHub Actions → Artifactory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47472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EEF8FF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14630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84632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Airtable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" y="2651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4632" y="29443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Designers update tokens. Human-readable. Relational. API-accessible.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359152" y="27157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23744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EEF8FF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23744" y="14630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16E7CF"/>
          </a:solidFill>
          <a:ln w="12700">
            <a:solidFill>
              <a:srgbClr val="16E7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23744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E7C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660904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Style Dictionary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60904" y="2651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E7C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60904" y="29443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Converts to platform-specific formats — iOS, Android, Web.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35424" y="27157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00016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0016" y="14630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011E60"/>
          </a:solidFill>
          <a:ln w="12700">
            <a:solidFill>
              <a:srgbClr val="011E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0016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4837176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37176" y="2651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CI / VALIDATE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37176" y="29443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347 automated tests on every sync. Fail loud, fail fast.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711696" y="27157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76288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BE298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76288" y="14630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76288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7013448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Artifactory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13448" y="2651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DEPLOY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013448" y="29443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Versioned packages. Teams pull on their own schedule — zero coordination.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74904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2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Designer updates a value → 10 minutes later it's live in production across all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" y="301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 Source of Truth  |  Theme Hierarchy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486460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4904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17 brands. One base. Each layer defines only its overrides.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74904" y="1417320"/>
            <a:ext cx="8394192" cy="667512"/>
          </a:xfrm>
          <a:prstGeom prst="roundRect">
            <a:avLst>
              <a:gd name="adj" fmla="val 10959"/>
            </a:avLst>
          </a:prstGeom>
          <a:solidFill>
            <a:srgbClr val="EEF8FF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4904" y="1417320"/>
            <a:ext cx="54864" cy="667512"/>
          </a:xfrm>
          <a:prstGeom prst="rect">
            <a:avLst/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481328"/>
            <a:ext cx="610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01  LD Base — Primitives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" y="1764792"/>
            <a:ext cx="610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650+ tokens. Raw values — hex, px, font sizes. Shared by every brand.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57416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100% shared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" y="2203704"/>
            <a:ext cx="8028432" cy="667512"/>
          </a:xfrm>
          <a:prstGeom prst="roundRect">
            <a:avLst>
              <a:gd name="adj" fmla="val 10959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" y="2203704"/>
            <a:ext cx="54864" cy="667512"/>
          </a:xfrm>
          <a:prstGeom prst="rect">
            <a:avLst/>
          </a:prstGeom>
          <a:solidFill>
            <a:srgbClr val="16E7CF"/>
          </a:solidFill>
          <a:ln w="12700">
            <a:solidFill>
              <a:srgbClr val="16E7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2267712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02  Semantic Layer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1832" y="2551176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Alias tokens map intent to primitives — colorTextDefault → gray-900.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57416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E7C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~90% inherited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06424" y="2990088"/>
            <a:ext cx="7662672" cy="667512"/>
          </a:xfrm>
          <a:prstGeom prst="roundRect">
            <a:avLst>
              <a:gd name="adj" fmla="val 10959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6424" y="2990088"/>
            <a:ext cx="54864" cy="667512"/>
          </a:xfrm>
          <a:prstGeom prst="rect">
            <a:avLst/>
          </a:prstGeom>
          <a:solidFill>
            <a:srgbClr val="011E60"/>
          </a:solidFill>
          <a:ln w="12700">
            <a:solidFill>
              <a:srgbClr val="011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07592" y="3054096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03  WCP Theme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07592" y="333756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Commerce-specific overrides. Sam's Club and Walmart+ branch from here.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57416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~20% override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472184" y="3776472"/>
            <a:ext cx="7296912" cy="667512"/>
          </a:xfrm>
          <a:prstGeom prst="roundRect">
            <a:avLst>
              <a:gd name="adj" fmla="val 10959"/>
            </a:avLst>
          </a:prstGeom>
          <a:solidFill>
            <a:srgbClr val="FBE298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72184" y="3776472"/>
            <a:ext cx="54864" cy="667512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73352" y="384048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04  Tenant Overrides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73352" y="412394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Brand-specific. Cashi, Walmart Business, Bodega. Only what's unique.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57416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~10% override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74904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When LD Base updates, all 17 tenants receive the change automatically — no manual propagation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pic>
        <p:nvPicPr>
          <p:cNvPr id="3" name="Image 1" descr="/home/claude/gd_template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4773168"/>
            <a:ext cx="1051560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0" y="48188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74904" y="301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Living Design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74904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Safety Net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74904" y="987552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347 tests. If it breaks,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the pipeline stops — not the product.</a:t>
            </a:r>
            <a:endParaRPr lang="en-US" sz="3800" dirty="0"/>
          </a:p>
        </p:txBody>
      </p:sp>
      <p:sp>
        <p:nvSpPr>
          <p:cNvPr id="8" name="Shape 4"/>
          <p:cNvSpPr/>
          <p:nvPr/>
        </p:nvSpPr>
        <p:spPr>
          <a:xfrm>
            <a:off x="374904" y="2423160"/>
            <a:ext cx="2286000" cy="2331720"/>
          </a:xfrm>
          <a:prstGeom prst="roundRect">
            <a:avLst>
              <a:gd name="adj" fmla="val 4000"/>
            </a:avLst>
          </a:prstGeom>
          <a:solidFill>
            <a:srgbClr val="0052E2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4904" y="263347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347</a:t>
            </a:r>
            <a:endParaRPr lang="en-US" sz="7200" dirty="0"/>
          </a:p>
        </p:txBody>
      </p:sp>
      <p:sp>
        <p:nvSpPr>
          <p:cNvPr id="10" name="Text 6"/>
          <p:cNvSpPr/>
          <p:nvPr/>
        </p:nvSpPr>
        <p:spPr>
          <a:xfrm>
            <a:off x="374904" y="37033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automated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tests per sync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880360" y="2423160"/>
            <a:ext cx="5888736" cy="667512"/>
          </a:xfrm>
          <a:prstGeom prst="roundRect">
            <a:avLst>
              <a:gd name="adj" fmla="val 10959"/>
            </a:avLst>
          </a:prstGeom>
          <a:solidFill>
            <a:srgbClr val="0052E2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63240" y="2487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Alias Integrity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063240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Tokens referencing tokens that no longer exist create silent failures on native platforms — nearly impossible to debug without a full audit.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880360" y="3200400"/>
            <a:ext cx="5888736" cy="667512"/>
          </a:xfrm>
          <a:prstGeom prst="roundRect">
            <a:avLst>
              <a:gd name="adj" fmla="val 10959"/>
            </a:avLst>
          </a:prstGeom>
          <a:solidFill>
            <a:srgbClr val="0052E2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63240" y="3264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Hex-to-Token Purity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63240" y="3538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100% of color values must resolve through the alias chain. No hardcoded hex values — they undermine the entire governance model.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880360" y="3977640"/>
            <a:ext cx="5888736" cy="667512"/>
          </a:xfrm>
          <a:prstGeom prst="roundRect">
            <a:avLst>
              <a:gd name="adj" fmla="val 10959"/>
            </a:avLst>
          </a:prstGeom>
          <a:solidFill>
            <a:srgbClr val="0052E2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63240" y="4041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Semantic Versioning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06324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Breaking changes → major versions. New features → minor. Simple updates → patches. Teams control when to upgrade.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" y="301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1E60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Airtable as Source of Truth  |  The Result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DA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486460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4904" y="621792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Design changes reach production in 10 minutes.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Zero coordination. Zero errors.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47472" y="1993392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EEF8FF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1993392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00A2FF"/>
          </a:solidFill>
          <a:ln w="12700">
            <a:solidFill>
              <a:srgbClr val="00A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2176272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2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95%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47472" y="3291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Faster deployment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2–3 days → 10 min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23744" y="1993392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1993392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16E7CF"/>
          </a:solidFill>
          <a:ln w="12700">
            <a:solidFill>
              <a:srgbClr val="16E7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23744" y="2176272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E7C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0%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2523744" y="3291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23744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347 automated tests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0016" y="1993392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A9DDF7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016" y="1993392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011E60"/>
          </a:solidFill>
          <a:ln w="12700">
            <a:solidFill>
              <a:srgbClr val="011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2176272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17</a:t>
            </a:r>
            <a:endParaRPr lang="en-US" sz="5200" dirty="0"/>
          </a:p>
        </p:txBody>
      </p:sp>
      <p:sp>
        <p:nvSpPr>
          <p:cNvPr id="20" name="Text 17"/>
          <p:cNvSpPr/>
          <p:nvPr/>
        </p:nvSpPr>
        <p:spPr>
          <a:xfrm>
            <a:off x="4700016" y="3291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Brand themes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0016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All self-service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76288" y="1993392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FBE298"/>
          </a:solidFill>
          <a:ln w="12700">
            <a:solidFill>
              <a:srgbClr val="A9DD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76288" y="1993392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76288" y="2176272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BAE4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650+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6876288" y="3291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1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Tokens managed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76288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DA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Single source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_template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283464"/>
            <a:ext cx="402336" cy="457200"/>
          </a:xfrm>
          <a:prstGeom prst="rect">
            <a:avLst/>
          </a:prstGeom>
        </p:spPr>
      </p:pic>
      <p:pic>
        <p:nvPicPr>
          <p:cNvPr id="3" name="Image 1" descr="/home/claude/gd_template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4773168"/>
            <a:ext cx="1051560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0" y="48188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This document is private and confidential. For internal use only.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74904" y="301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Living Design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74904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Designers work in Airtable.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Engineers consume versioned tokens.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No coordination needed.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374904" y="3767328"/>
            <a:ext cx="8394192" cy="18288"/>
          </a:xfrm>
          <a:prstGeom prst="rect">
            <a:avLst/>
          </a:prstGeom>
          <a:solidFill>
            <a:srgbClr val="011E60"/>
          </a:solidFill>
          <a:ln w="12700">
            <a:solidFill>
              <a:srgbClr val="011E6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74904" y="38953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The approach became the reference architecture for Cashi, Walmart Business, and Bodega onboarding.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74904" y="4297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DF7"/>
                </a:solidFill>
                <a:latin typeface="Everyday Sans UI Light" pitchFamily="34" charset="0"/>
                <a:ea typeface="Everyday Sans UI Light" pitchFamily="34" charset="-122"/>
                <a:cs typeface="Everyday Sans UI Light" pitchFamily="34" charset="-120"/>
              </a:rPr>
              <a:t>What's next: Automated dynamic SVG theming for illustrations and brand assets.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Airtable as Source of Truth — Living Design</dc:title>
  <dc:subject>PptxGenJS Presentation</dc:subject>
  <dc:creator>Amy Ha</dc:creator>
  <cp:lastModifiedBy>Amy Ha</cp:lastModifiedBy>
  <cp:revision>1</cp:revision>
  <dcterms:created xsi:type="dcterms:W3CDTF">2026-05-28T15:43:15Z</dcterms:created>
  <dcterms:modified xsi:type="dcterms:W3CDTF">2026-05-28T15:43:15Z</dcterms:modified>
</cp:coreProperties>
</file>